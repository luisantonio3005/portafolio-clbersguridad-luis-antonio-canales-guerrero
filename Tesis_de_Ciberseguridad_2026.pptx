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Vectores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FA8"/>
              </a:solidFill>
              <a:effectLst/>
            </c:spPr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bubble3D val="0"/>
            <c:spPr>
              <a:solidFill>
                <a:srgbClr val="39D353"/>
              </a:solidFill>
              <a:effectLst/>
            </c:spPr>
          </c:dPt>
          <c:dPt>
            <c:idx val="3"/>
            <c:bubble3D val="0"/>
            <c:spPr>
              <a:solidFill>
                <a:srgbClr val="00C8FF"/>
              </a:solidFill>
              <a:effectLst/>
            </c:spPr>
          </c:dPt>
          <c:dPt>
            <c:idx val="4"/>
            <c:bubble3D val="0"/>
            <c:spPr>
              <a:solidFill>
                <a:srgbClr val="7090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Phishing/Ing. Social</c:v>
                </c:pt>
                <c:pt idx="1">
                  <c:v>Ransomware</c:v>
                </c:pt>
                <c:pt idx="2">
                  <c:v>Identidad/Sin malware</c:v>
                </c:pt>
                <c:pt idx="3">
                  <c:v>Cadena Suministro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36</c:v>
                </c:pt>
                <c:pt idx="1">
                  <c:v>22</c:v>
                </c:pt>
                <c:pt idx="2">
                  <c:v>21</c:v>
                </c:pt>
                <c:pt idx="3">
                  <c:v>11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solidFill>
          <a:srgbClr val="080F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CC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80F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incidentes</c:v>
                </c:pt>
              </c:strCache>
            </c:strRef>
          </c:tx>
          <c:spPr>
            <a:solidFill>
              <a:srgbClr val="39D3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D3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D3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E-commerce</c:v>
                  </c:pt>
                  <c:pt idx="1">
                    <c:v>Gobierno</c:v>
                  </c:pt>
                  <c:pt idx="2">
                    <c:v>Finanzas</c:v>
                  </c:pt>
                  <c:pt idx="3">
                    <c:v>Salud</c:v>
                  </c:pt>
                  <c:pt idx="4">
                    <c:v>Manufactura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18</c:v>
                </c:pt>
                <c:pt idx="2">
                  <c:v>19</c:v>
                </c:pt>
                <c:pt idx="3">
                  <c:v>21</c:v>
                </c:pt>
                <c:pt idx="4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C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9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F1E"/>
        </a:solidFill>
        <a:ln>
          <a:noFill/>
        </a:ln>
        <a:effectLst/>
      </c:spPr>
    </c:plotArea>
    <c:plotVisOnly val="1"/>
    <c:dispBlanksAs val="span"/>
  </c:chart>
  <c:spPr>
    <a:solidFill>
      <a:srgbClr val="08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572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Ciberseguridad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Era Digital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Amenazas, Defensas y Marco Normativo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3017520"/>
            <a:ext cx="4114800" cy="36576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Guerrero Luis Antonio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5478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TIC · Ciberseguridad y Cómputo Forense  |  Abril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90B0"/>
                </a:solidFill>
              </a:rPr>
              <a:t>UNIVERSIDAD NACIONAL DE INVESTIGACIÓN TECNOLÓGICA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86868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686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y triada 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86868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60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005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Amenazas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3898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Estadísticas, tipos de ataque y sectores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4114800" cy="86868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48840"/>
            <a:ext cx="73152" cy="86868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48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353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194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Ciberseguridad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786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Defensiva vs. ofensiva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86868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73152" cy="8686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48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194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5786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 y NIST CSF 2.0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37560"/>
            <a:ext cx="4114800" cy="86868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37560"/>
            <a:ext cx="73152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375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3832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673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recomendaciones estratégicas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EL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ciberseguridad, un reto global en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20240" cy="32918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9202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1371600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463040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03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$10.5T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global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cibercrimen 2025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2062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90B0"/>
                </a:solidFill>
              </a:rPr>
              <a:t>Fuente: CrowdStrike / Cybersecurity Ventures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68880" y="1188720"/>
            <a:ext cx="1920240" cy="32918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1188720"/>
            <a:ext cx="1920240" cy="64008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5" name="Shape 12"/>
          <p:cNvSpPr/>
          <p:nvPr/>
        </p:nvSpPr>
        <p:spPr>
          <a:xfrm>
            <a:off x="3127248" y="1371600"/>
            <a:ext cx="603504" cy="603504"/>
          </a:xfrm>
          <a:prstGeom prst="ellipse">
            <a:avLst/>
          </a:prstGeom>
          <a:solidFill>
            <a:srgbClr val="FF3B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463040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68880" y="2103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246888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atacadas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2023-2025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468880" y="42062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90B0"/>
                </a:solidFill>
              </a:rPr>
              <a:t>Fuente: CrowdStrike / Cybersecurity Ventures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617720" y="1188720"/>
            <a:ext cx="1920240" cy="32918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7720" y="1188720"/>
            <a:ext cx="1920240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Shape 18"/>
          <p:cNvSpPr/>
          <p:nvPr/>
        </p:nvSpPr>
        <p:spPr>
          <a:xfrm>
            <a:off x="5276088" y="1371600"/>
            <a:ext cx="603504" cy="603504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463040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17720" y="2103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461772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sin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(basados en ID)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617720" y="42062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90B0"/>
                </a:solidFill>
              </a:rPr>
              <a:t>Fuente: CrowdStrike / Cybersecurity Ventures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66560" y="1188720"/>
            <a:ext cx="1920240" cy="32918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766560" y="1188720"/>
            <a:ext cx="1920240" cy="6400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9" name="Shape 24"/>
          <p:cNvSpPr/>
          <p:nvPr/>
        </p:nvSpPr>
        <p:spPr>
          <a:xfrm>
            <a:off x="7424928" y="1371600"/>
            <a:ext cx="603504" cy="603504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463040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2103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seg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676656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más rápido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766560" y="42062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90B0"/>
                </a:solidFill>
              </a:rPr>
              <a:t>Fuente: CrowdStrike / Cybersecurity Ventures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MARCO TEÓRICO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Triada CIA: Los tres pilares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2.1 — La ciberseguridad es la práctica de proteger sistemas, redes y programas digitales contra ataques digitales.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651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691640"/>
            <a:ext cx="603504" cy="603504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783080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usuarios autorizados acceden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información.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2286000" cy="548640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· Control de acceso RBAC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508760"/>
            <a:ext cx="2651760" cy="73152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7" name="Shape 14"/>
          <p:cNvSpPr/>
          <p:nvPr/>
        </p:nvSpPr>
        <p:spPr>
          <a:xfrm>
            <a:off x="4270248" y="1691640"/>
            <a:ext cx="603504" cy="603504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783080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4612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24612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 exacta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completa.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solidFill>
            <a:srgbClr val="39D35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criptográficos · Firmas digitales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1508760"/>
            <a:ext cx="26517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1"/>
          <p:cNvSpPr/>
          <p:nvPr/>
        </p:nvSpPr>
        <p:spPr>
          <a:xfrm>
            <a:off x="7150608" y="1691640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783080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648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12648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acceden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 necesitan.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309360" y="3749040"/>
            <a:ext cx="2286000" cy="54864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30936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· Backups · Load Balancing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AMENAZAS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globales de ciberataques 2024-2025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943600" cy="137160"/>
          </a:xfrm>
          <a:prstGeom prst="rect">
            <a:avLst/>
          </a:prstGeom>
          <a:solidFill>
            <a:srgbClr val="131F3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17320"/>
            <a:ext cx="713232" cy="1371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propagación más rápido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097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seg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5943600" cy="137160"/>
          </a:xfrm>
          <a:prstGeom prst="rect">
            <a:avLst/>
          </a:prstGeom>
          <a:solidFill>
            <a:srgbClr val="131F35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48840"/>
            <a:ext cx="2258568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de propagación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5943600" cy="137160"/>
          </a:xfrm>
          <a:prstGeom prst="rect">
            <a:avLst/>
          </a:prstGeom>
          <a:solidFill>
            <a:srgbClr val="131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880360"/>
            <a:ext cx="4695444" cy="1371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sin malware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5943600" cy="137160"/>
          </a:xfrm>
          <a:prstGeom prst="rect">
            <a:avLst/>
          </a:prstGeom>
          <a:solidFill>
            <a:srgbClr val="131F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611880"/>
            <a:ext cx="1545336" cy="1371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adversarios (2024)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5943600" cy="137160"/>
          </a:xfrm>
          <a:prstGeom prst="rect">
            <a:avLst/>
          </a:prstGeom>
          <a:solidFill>
            <a:srgbClr val="131F35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343400"/>
            <a:ext cx="5943600" cy="1371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23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del vishing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023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</a:rPr>
              <a:t>Fuente: CrowdStrike Global Threat Report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AMENAZAS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Global del Cibercrimen (2020 – 2026e)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828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</a:rPr>
              <a:t>▲ Tendencia al alza — 2026 en proyección  |  Fuente: Cybersecurity Ventures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AMENAZAS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ataque más frecuentes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1440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051560"/>
            <a:ext cx="384048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1051560"/>
            <a:ext cx="731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097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5,600+ ataques en 2024. RaaS reduce barreras de entrada.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2331720"/>
            <a:ext cx="384048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331720"/>
            <a:ext cx="73152" cy="10515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377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con 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45-50% generado con IA en 2025. Tasa de respuesta: 62-65%.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3611880"/>
            <a:ext cx="384048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3611880"/>
            <a:ext cx="73152" cy="1051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3657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suministro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183,000 clientes afectados. +33% vs. año anterior.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AMENAZAS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más afectados (2024-2025)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51560"/>
            <a:ext cx="283464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051560"/>
            <a:ext cx="64008" cy="77724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088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1435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Espionaje industrial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011680"/>
            <a:ext cx="283464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011680"/>
            <a:ext cx="64008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0482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2395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· Alta criticidad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971800"/>
            <a:ext cx="283464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971800"/>
            <a:ext cx="64008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355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online · Robo de credenciales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931920"/>
            <a:ext cx="283464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0" y="3931920"/>
            <a:ext cx="64008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968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26480" y="43159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APTs · Ciberespionaje de Estado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IA DEFENSIVA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como escudo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594360" cy="5943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Predictiva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709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patrones de amenazas antes de que ocurran.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554480"/>
            <a:ext cx="594360" cy="594360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Automática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709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tiempo de reacción de horas a segundos.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27889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200400"/>
            <a:ext cx="594360" cy="5943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918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Masivo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33558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volúmenes enormes de datos en tiempo real.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200400"/>
            <a:ext cx="594360" cy="594360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Conductual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23560" y="33558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actividades sospechosas del usuario.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080F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57200" y="4343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IBM redujo sus brechas de seguridad en un  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76072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6766560" y="4343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integrar IA defensiva en sus operaciones.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3B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IA OFENSIVA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manos de los atacantes — Cifras 2025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12064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Cifra consolidada 2025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CE0"/>
                          </a:solidFill>
                        </a:rPr>
                        <a:t>Quejas de ciberataques con 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</a:rPr>
                        <a:t>1.31 millones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CE0"/>
                          </a:solidFill>
                        </a:rPr>
                        <a:t>Pérdidas estimadas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</a:rPr>
                        <a:t>USD 18,600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CE0"/>
                          </a:solidFill>
                        </a:rPr>
                        <a:t>Phishing generado por 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</a:rPr>
                        <a:t>45-50%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CE0"/>
                          </a:solidFill>
                        </a:rPr>
                        <a:t>Tasa de respuesta phishing con 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</a:rPr>
                        <a:t>62-65%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CE0"/>
                          </a:solidFill>
                        </a:rPr>
                        <a:t>Organizaciones con incidentes de 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</a:rPr>
                        <a:t>54%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51560"/>
            <a:ext cx="310896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51560"/>
            <a:ext cx="64008" cy="77724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088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avanzado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14538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casi indistinguibles de los legítimos.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1965960"/>
            <a:ext cx="310896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965960"/>
            <a:ext cx="64008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0025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23682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y audios falsos para manipular empleados.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2880360"/>
            <a:ext cx="3108960" cy="77724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880360"/>
            <a:ext cx="64008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9169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adaptativos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52160" y="32826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Aprenden de las defensas y ajustan tácticas.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90B0"/>
                </a:solidFill>
              </a:rPr>
              <a:t>78% de ataques recientes usaron IA de código abierto — Darktrace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4526280"/>
            <a:ext cx="228600" cy="228600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498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análisis conductual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51760" y="4526280"/>
            <a:ext cx="228600" cy="228600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24" name="Text 21"/>
          <p:cNvSpPr/>
          <p:nvPr/>
        </p:nvSpPr>
        <p:spPr>
          <a:xfrm>
            <a:off x="2926080" y="4498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Simulacros con IA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0600" y="4526280"/>
            <a:ext cx="228600" cy="228600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26" name="Text 23"/>
          <p:cNvSpPr/>
          <p:nvPr/>
        </p:nvSpPr>
        <p:spPr>
          <a:xfrm>
            <a:off x="5074920" y="4498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Defender (deepfake)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49440" y="4526280"/>
            <a:ext cx="228600" cy="228600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28" name="Text 25"/>
          <p:cNvSpPr/>
          <p:nvPr/>
        </p:nvSpPr>
        <p:spPr>
          <a:xfrm>
            <a:off x="7223760" y="4498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MARCO NORMATIVO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 vs  NIST CSF 2.0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023360" cy="50292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FF"/>
                </a:solidFill>
              </a:rPr>
              <a:t>ISO/IEC 27001:2022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Estándar internacional certificable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11 cláusulas + 93 controles Anexo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Auditoría externa obligatoria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54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Reconocimiento global multi-industria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2958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Costo ~50,000 EUR (auditoría)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050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Norma totalmente vigente en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05840"/>
            <a:ext cx="4023360" cy="50292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NIST CSF 2.0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1627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Marco voluntario (EE.UU.)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6 funciones: Gobernar · ID · Proteger · Detectar · Responder · Recuperar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578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Autoevaluación interna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054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Gratuito y de libre acceso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52958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Estándar operativo consolidado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0050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Cubre ~83% con ISO 27001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24528" y="2240280"/>
            <a:ext cx="694944" cy="694944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4528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MARCO NORMATIVO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implementación recomendada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2880360"/>
            <a:ext cx="6949440" cy="54864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14600"/>
            <a:ext cx="786384" cy="786384"/>
          </a:xfrm>
          <a:prstGeom prst="ellipse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1920240" cy="15087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nivel de madurez actual en ciberseguridad.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514600"/>
            <a:ext cx="786384" cy="786384"/>
          </a:xfrm>
          <a:prstGeom prst="ellipse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14600" y="3429000"/>
            <a:ext cx="1920240" cy="15087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4005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las 6 funciones como base del programa.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514600"/>
            <a:ext cx="786384" cy="786384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1920240" cy="15087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progresiva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005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procesos: políticas, controles técnicos, formación.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2514600"/>
            <a:ext cx="786384" cy="786384"/>
          </a:xfrm>
          <a:prstGeom prst="ellipse">
            <a:avLst/>
          </a:prstGeom>
          <a:solidFill>
            <a:srgbClr val="39D35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12280" y="3429000"/>
            <a:ext cx="1920240" cy="15087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005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internacional como diferenciador competitivo.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90B0"/>
                </a:solidFill>
              </a:rPr>
              <a:t>Una organización con ISO 27001 cubre ~83% del NIST CSF  ·  Una con NIST CSF cubre ~61% del ISO 27001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CONCLUSIONES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160020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73152" cy="1600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0020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188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del problema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16276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confirmados en $10.5T al cierre de 2025.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pymes afectadas en 2023-2025.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60020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73152" cy="160020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600200"/>
            <a:ext cx="594360" cy="594360"/>
          </a:xfrm>
          <a:prstGeom prst="ellipse">
            <a:avLst/>
          </a:prstGeom>
          <a:solidFill>
            <a:srgbClr val="FF3B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188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amenazas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15000" y="16276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sin malware. Propagación en 51 seg.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defensiva ya no es opcional.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2926080"/>
            <a:ext cx="4023360" cy="160020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926080"/>
            <a:ext cx="73152" cy="1600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3429000"/>
            <a:ext cx="594360" cy="5943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filo de la IA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80160" y="34564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defensiva → -65% brechas.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45-50% del phishing fue generado con IA.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2926080"/>
            <a:ext cx="4023360" cy="160020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926080"/>
            <a:ext cx="73152" cy="160020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0" y="3429000"/>
            <a:ext cx="594360" cy="594360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1500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sólido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 y NIST CSF 2.0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estándar operativo de 2026.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743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65760" y="1764792"/>
            <a:ext cx="310896" cy="310896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arquitectura Zero Trust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587752"/>
            <a:ext cx="310896" cy="310896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análisis conductual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341071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Simulacros con IA periódicos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64792"/>
            <a:ext cx="310896" cy="310896"/>
          </a:xfrm>
          <a:prstGeom prst="ellipse">
            <a:avLst/>
          </a:prstGeom>
          <a:solidFill>
            <a:srgbClr val="FF3B3B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respuesta: tiempos en minutos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587752"/>
            <a:ext cx="310896" cy="310896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riesgo continuas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3410712"/>
            <a:ext cx="310896" cy="310896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ISO 27001:2022 como diferenciador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F"/>
                </a:solidFill>
              </a:rPr>
              <a:t>"La inversión en tecnología, procesos y personas es el factor determinante del futuro."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3B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CASOS REALES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que marcaron la historia reciente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82296" cy="11155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24712"/>
            <a:ext cx="658368" cy="2926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124712"/>
            <a:ext cx="100584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124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Supply Chain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1097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~$100,000M en daños estimados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48132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18,000+ organizaciones afectadas — incluyendo NASA, Pentágono y 9 agencias del gobierno de EE.UU.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013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Código malicioso inyectado en actualización legítima de software. Permaneció indetectable 9 meses.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002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· Rusia (SVR)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313432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13432"/>
            <a:ext cx="82296" cy="11155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386584"/>
            <a:ext cx="658368" cy="2926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865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34440" y="2386584"/>
            <a:ext cx="100584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2386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Ransomware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2359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Pipeline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0" y="2359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 millones de rescate pagados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74320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45% del suministro de combustible del este de EE.UU. paralizado durante 6 días. Pánico masivo en gasolineras.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0632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Una sola contraseña filtrada en la dark web fue suficiente. Sin MFA. Ransomware DarkSide.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2862072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8620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DarkSide · RaaS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75304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75304"/>
            <a:ext cx="82296" cy="1115568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3648456"/>
            <a:ext cx="658368" cy="292608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6484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34440" y="3648456"/>
            <a:ext cx="100584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5" name="Text 33"/>
          <p:cNvSpPr/>
          <p:nvPr/>
        </p:nvSpPr>
        <p:spPr>
          <a:xfrm>
            <a:off x="1234440" y="36484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B"/>
                </a:solidFill>
              </a:rPr>
              <a:t>Zero-Day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3621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/ Cl0p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400800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95M+ registros expuestos · $10,000M+ en daños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00507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2,500+ organizaciones comprometidas — Shell, BA, BBC, el gobierno de la Ciudad de Nueva York.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325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Zero-day en software de transferencia de archivos usado globalmente. Exfiltración masiva antes de ser detectado.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4123944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412394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Cl0p · Extorsión sin cifrado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3B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CASOS REALES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social, IA y deepfakes en acción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82296" cy="11155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24712"/>
            <a:ext cx="658368" cy="2926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124712"/>
            <a:ext cx="201168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124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Ing. Social + MFA Fatigue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110642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— Hack de un adolescente de 18 años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490472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904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empleado = acceso total a Uber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47218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atacante se hizo pasar por soporte de TI vía WhatsApp. Bombardeó al empleado con notificaciones MFA hasta que este las aceptó por fatiga. Acceso total a sistemas internos, Slack, G-Suite, AWS y HackerOne.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02920" y="187452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Las herramientas son seguras. Las personas, no siempre.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13432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13432"/>
            <a:ext cx="82296" cy="1115568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386584"/>
            <a:ext cx="658368" cy="292608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865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34440" y="2386584"/>
            <a:ext cx="201168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2386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3B3B"/>
                </a:solidFill>
              </a:rPr>
              <a:t>Deepfake · Video en tiempo real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3682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— Deepfake CFO: $25 millones robados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2752344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75234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$25,000,000 en una sola llamada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73405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 financiero fue convocado a una videollamada con quien parecía ser el CFO de su empresa y otros colegas. Todos eran deepfakes generados en tiempo real. Transfirió $25 millones sin sospechar nada.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313639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Ver ya no es creer. Reality Defender y protocolos de verificación son obligatorios.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575304"/>
            <a:ext cx="8503920" cy="11155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75304"/>
            <a:ext cx="82296" cy="11155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648456"/>
            <a:ext cx="658368" cy="2926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6484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34440" y="3648456"/>
            <a:ext cx="201168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3648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FF"/>
                </a:solidFill>
              </a:rPr>
              <a:t>Vishing · ALPHV/BlackCat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630168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 Resorts — 10 minutos por teléfono = $100M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2377440" cy="402336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01421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~$100M en pérdidas operativas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9959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ALPHV encontró al empleado en LinkedIn, llamó al helpdesk haciéndose pasar por él. En 10 minutos tenían acceso. Cifrado de servidores, cajeros sin funcionar días y caos total en Las Vegas.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02920" y="439826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El +442% de incremento en vishing no es estadística — es esto.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CONCLUSIÓN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82296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1261872"/>
            <a:ext cx="36576" cy="7315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15214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cibercrimen ya no es una amenaza futura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53619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$10.5T de costo en 2025 y el 79% de ataques sin malware confirman que el panorama cambió para siempre. La transformación digital ya ocurrió — ahora toca protegerla.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850392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31720"/>
            <a:ext cx="82296" cy="1051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77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51560" y="2496312"/>
            <a:ext cx="36576" cy="7315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38658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el nuevo campo de batalla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7063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domine la IA defensiva reducirá brechas en 65%. Quien ignore la IA ofensiva enfrentará phishing indetectable y deepfakes. No hay punto medio.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66160"/>
            <a:ext cx="8503920" cy="1051560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66160"/>
            <a:ext cx="82296" cy="10515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1188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51560" y="3730752"/>
            <a:ext cx="36576" cy="7315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62102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marcos normativos son la hoja de ruta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0507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+ ISO 27001:2022 no son burocracia: son la diferencia entre reaccionar y anticipar. En 2026, son el estándar operativo de la industria.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90B0"/>
                </a:solidFill>
              </a:rPr>
              <a:t>La ciberseguridad no es un gasto — es la condición de existencia digital de cualquier organización.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Información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749808"/>
            <a:ext cx="416052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49808"/>
            <a:ext cx="64008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74980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786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Project  · 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ciberseguridad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416052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5448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544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591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TechFabLab / Worsley  · 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tendencias en ciberseguridad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359152"/>
            <a:ext cx="416052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59152"/>
            <a:ext cx="64008" cy="65836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3591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Ventures  · 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688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anual de ciberdelincuencia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163824"/>
            <a:ext cx="416052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63824"/>
            <a:ext cx="64008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1638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 · 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493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Threat Report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968496"/>
            <a:ext cx="416052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968496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39684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 ·  2025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4297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tendencias del ransomware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749808"/>
            <a:ext cx="4160520" cy="658368"/>
          </a:xfrm>
          <a:prstGeom prst="rect">
            <a:avLst/>
          </a:prstGeom>
          <a:solidFill>
            <a:srgbClr val="0B15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749808"/>
            <a:ext cx="64008" cy="65836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74980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786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  ·  2025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clave sobre ciberseguridad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554480"/>
            <a:ext cx="4160520" cy="658368"/>
          </a:xfrm>
          <a:prstGeom prst="rect">
            <a:avLst/>
          </a:prstGeom>
          <a:solidFill>
            <a:srgbClr val="0B15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554480"/>
            <a:ext cx="64008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15544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1591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 Asociados  ·  2024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en ciberseguridad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359152"/>
            <a:ext cx="4160520" cy="658368"/>
          </a:xfrm>
          <a:prstGeom prst="rect">
            <a:avLst/>
          </a:prstGeom>
          <a:solidFill>
            <a:srgbClr val="0B15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359152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23591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Ecuador  ·  2025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2688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Estándares de Ciberseguridad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163824"/>
            <a:ext cx="4160520" cy="658368"/>
          </a:xfrm>
          <a:prstGeom prst="rect">
            <a:avLst/>
          </a:prstGeom>
          <a:solidFill>
            <a:srgbClr val="0B15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163824"/>
            <a:ext cx="64008" cy="65836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31638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4924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 ·  2025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240" y="3493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Ciberseguridad NIST y NIST 2.0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968496"/>
            <a:ext cx="4160520" cy="658368"/>
          </a:xfrm>
          <a:prstGeom prst="rect">
            <a:avLst/>
          </a:prstGeom>
          <a:solidFill>
            <a:srgbClr val="0B152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968496"/>
            <a:ext cx="64008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2" name="Text 50"/>
          <p:cNvSpPr/>
          <p:nvPr/>
        </p:nvSpPr>
        <p:spPr>
          <a:xfrm>
            <a:off x="4864608" y="39684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4924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  ·  2025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49240" y="4297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ISO 27001 y el marco de ciberseguridad del NIST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2286000" cy="2286000"/>
          </a:xfrm>
          <a:prstGeom prst="ellipse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5720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0292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200" dirty="0"/>
          </a:p>
        </p:txBody>
      </p:sp>
      <p:sp>
        <p:nvSpPr>
          <p:cNvPr id="8" name="Shape 5"/>
          <p:cNvSpPr/>
          <p:nvPr/>
        </p:nvSpPr>
        <p:spPr>
          <a:xfrm>
            <a:off x="365760" y="1783080"/>
            <a:ext cx="502920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9385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Guerrero Luis Antonio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23957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TIC · Especialización en Ciberseguridad y Cómputo Forense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7614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Dr. [Nombre del Director]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200400"/>
            <a:ext cx="5029200" cy="2743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" y="3337560"/>
            <a:ext cx="6217920" cy="658368"/>
          </a:xfrm>
          <a:prstGeom prst="rect">
            <a:avLst/>
          </a:prstGeom>
          <a:solidFill>
            <a:srgbClr val="13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337560"/>
            <a:ext cx="73152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3756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o comentarios?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B0"/>
                </a:solidFill>
              </a:rPr>
              <a:t>Universidad Nacional de Investigación Tecnológica  ·  Abril 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Ciberseguridad en la Era Digital — 2026</dc:title>
  <dc:subject>PptxGenJS Presentation</dc:subject>
  <dc:creator>Canales Guerrero Luis Antonio</dc:creator>
  <cp:lastModifiedBy>Canales Guerrero Luis Antonio</cp:lastModifiedBy>
  <cp:revision>1</cp:revision>
  <dcterms:created xsi:type="dcterms:W3CDTF">2026-04-10T23:57:12Z</dcterms:created>
  <dcterms:modified xsi:type="dcterms:W3CDTF">2026-04-10T23:57:12Z</dcterms:modified>
</cp:coreProperties>
</file>